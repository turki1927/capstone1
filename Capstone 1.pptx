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51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10.png"/><Relationship Id="rId21" Type="http://schemas.openxmlformats.org/officeDocument/2006/relationships/image" Target="../media/image40.png"/><Relationship Id="rId7" Type="http://schemas.openxmlformats.org/officeDocument/2006/relationships/image" Target="../media/image14.png"/><Relationship Id="rId12" Type="http://schemas.openxmlformats.org/officeDocument/2006/relationships/image" Target="../media/image20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32.png"/><Relationship Id="rId5" Type="http://schemas.openxmlformats.org/officeDocument/2006/relationships/image" Target="../media/image12.png"/><Relationship Id="rId15" Type="http://schemas.openxmlformats.org/officeDocument/2006/relationships/image" Target="../media/image35.png"/><Relationship Id="rId23" Type="http://schemas.openxmlformats.org/officeDocument/2006/relationships/image" Target="../media/image27.png"/><Relationship Id="rId10" Type="http://schemas.openxmlformats.org/officeDocument/2006/relationships/image" Target="../media/image31.png"/><Relationship Id="rId19" Type="http://schemas.openxmlformats.org/officeDocument/2006/relationships/image" Target="../media/image39.png"/><Relationship Id="rId4" Type="http://schemas.openxmlformats.org/officeDocument/2006/relationships/image" Target="../media/image11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Relationship Id="rId22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18" Type="http://schemas.openxmlformats.org/officeDocument/2006/relationships/image" Target="../media/image50.png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openxmlformats.org/officeDocument/2006/relationships/image" Target="../media/image45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4.png"/><Relationship Id="rId5" Type="http://schemas.openxmlformats.org/officeDocument/2006/relationships/image" Target="../media/image12.png"/><Relationship Id="rId15" Type="http://schemas.openxmlformats.org/officeDocument/2006/relationships/image" Target="../media/image47.png"/><Relationship Id="rId10" Type="http://schemas.openxmlformats.org/officeDocument/2006/relationships/image" Target="../media/image17.png"/><Relationship Id="rId19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43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1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63.png"/><Relationship Id="rId4" Type="http://schemas.openxmlformats.org/officeDocument/2006/relationships/image" Target="../media/image11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10.png"/><Relationship Id="rId21" Type="http://schemas.openxmlformats.org/officeDocument/2006/relationships/image" Target="../media/image77.png"/><Relationship Id="rId7" Type="http://schemas.openxmlformats.org/officeDocument/2006/relationships/image" Target="../media/image14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5" Type="http://schemas.openxmlformats.org/officeDocument/2006/relationships/image" Target="../media/image12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11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143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623888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7425" y="757238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862" y="2909888"/>
            <a:ext cx="4536728" cy="4667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1862" y="3490913"/>
            <a:ext cx="4536728" cy="4667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1862" y="4071938"/>
            <a:ext cx="4536728" cy="4667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1862" y="4652963"/>
            <a:ext cx="4536728" cy="4667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1862" y="5233988"/>
            <a:ext cx="4536728" cy="46672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952500" y="952500"/>
            <a:ext cx="825818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0"/>
              </a:lnSpc>
              <a:buNone/>
            </a:pPr>
            <a:r>
              <a:rPr lang="en-US" sz="9000" dirty="0">
                <a:solidFill>
                  <a:srgbClr val="1B8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9000" dirty="0"/>
          </a:p>
        </p:txBody>
      </p:sp>
      <p:sp>
        <p:nvSpPr>
          <p:cNvPr id="13" name="Text 1"/>
          <p:cNvSpPr/>
          <p:nvPr/>
        </p:nvSpPr>
        <p:spPr>
          <a:xfrm>
            <a:off x="10551319" y="4191000"/>
            <a:ext cx="825818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0"/>
              </a:lnSpc>
              <a:buNone/>
            </a:pPr>
            <a:r>
              <a:rPr lang="en-US" sz="9000" dirty="0">
                <a:solidFill>
                  <a:srgbClr val="1B8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9000" dirty="0"/>
          </a:p>
        </p:txBody>
      </p:sp>
      <p:sp>
        <p:nvSpPr>
          <p:cNvPr id="14" name="Text 2"/>
          <p:cNvSpPr/>
          <p:nvPr/>
        </p:nvSpPr>
        <p:spPr>
          <a:xfrm>
            <a:off x="2062282" y="1462088"/>
            <a:ext cx="829603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E-commerce API Endpoints</a:t>
            </a:r>
            <a:endParaRPr lang="en-US" sz="3600" dirty="0"/>
          </a:p>
        </p:txBody>
      </p:sp>
      <p:sp>
        <p:nvSpPr>
          <p:cNvPr id="15" name="Text 3"/>
          <p:cNvSpPr/>
          <p:nvPr/>
        </p:nvSpPr>
        <p:spPr>
          <a:xfrm>
            <a:off x="1982450" y="2147888"/>
            <a:ext cx="8455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dirty="0">
                <a:latin typeface="ui-sans-serif"/>
                <a:ea typeface="ui-sans-serif"/>
              </a:rPr>
              <a:t>Capstone 1: Spring Boot API Endpoints</a:t>
            </a:r>
            <a:endParaRPr lang="en-US" sz="1800" dirty="0">
              <a:latin typeface="ui-sans-serif"/>
              <a:ea typeface="ui-sans-serif"/>
            </a:endParaRPr>
          </a:p>
        </p:txBody>
      </p:sp>
      <p:sp>
        <p:nvSpPr>
          <p:cNvPr id="16" name="Text 4"/>
          <p:cNvSpPr/>
          <p:nvPr/>
        </p:nvSpPr>
        <p:spPr>
          <a:xfrm>
            <a:off x="4132362" y="2909888"/>
            <a:ext cx="4536728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 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/user/affordable-products/{userId}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4132362" y="3490913"/>
            <a:ext cx="4536728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 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/user/get-range/{categoryId}/{minPrice}/{maxPrice}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4132362" y="4071938"/>
            <a:ext cx="4536728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A8A0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PUT 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/user/recharge-balance/{userID}/{amount}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4132362" y="4652963"/>
            <a:ext cx="4536728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 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/user/favorite-category-products/{id}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4132362" y="5233988"/>
            <a:ext cx="4536728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POST 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/user/refund/{userId}/{productId}/{merchantId}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5767388" y="6005513"/>
            <a:ext cx="10628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2025-11-17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524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335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171700"/>
            <a:ext cx="207258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2410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40030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4580" y="2171700"/>
            <a:ext cx="2072580" cy="1257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86980" y="232410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63180" y="24003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9561" y="2171700"/>
            <a:ext cx="2072729" cy="1257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11961" y="232410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4690" y="2171700"/>
            <a:ext cx="2072580" cy="1257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7090" y="2400300"/>
            <a:ext cx="287089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04361" y="24765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9671" y="2171700"/>
            <a:ext cx="2072729" cy="1257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62071" y="2324100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38271" y="24003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3733800"/>
            <a:ext cx="10972800" cy="4953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762000" y="171450"/>
            <a:ext cx="20875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E-commerce API</a:t>
            </a:r>
            <a:endParaRPr lang="en-US" sz="1500" dirty="0"/>
          </a:p>
        </p:txBody>
      </p:sp>
      <p:sp>
        <p:nvSpPr>
          <p:cNvPr id="24" name="Text 1"/>
          <p:cNvSpPr/>
          <p:nvPr/>
        </p:nvSpPr>
        <p:spPr>
          <a:xfrm>
            <a:off x="11031289" y="238125"/>
            <a:ext cx="93565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25" name="Text 2"/>
          <p:cNvSpPr/>
          <p:nvPr/>
        </p:nvSpPr>
        <p:spPr>
          <a:xfrm>
            <a:off x="609600" y="914400"/>
            <a:ext cx="10972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getAffordableProducts</a:t>
            </a:r>
            <a:endParaRPr lang="en-US" sz="2250" dirty="0"/>
          </a:p>
        </p:txBody>
      </p:sp>
      <p:sp>
        <p:nvSpPr>
          <p:cNvPr id="26" name="Text 3"/>
          <p:cNvSpPr/>
          <p:nvPr/>
        </p:nvSpPr>
        <p:spPr>
          <a:xfrm>
            <a:off x="609600" y="16002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Returns products the user can afford based on their balance.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1181100" y="2362200"/>
            <a:ext cx="14076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Retrieve User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762000" y="2743200"/>
            <a:ext cx="1767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Retrieve the user by userId.</a:t>
            </a:r>
            <a:endParaRPr lang="en-US" sz="1050" dirty="0"/>
          </a:p>
        </p:txBody>
      </p:sp>
      <p:sp>
        <p:nvSpPr>
          <p:cNvPr id="29" name="Text 6"/>
          <p:cNvSpPr/>
          <p:nvPr/>
        </p:nvSpPr>
        <p:spPr>
          <a:xfrm>
            <a:off x="3406080" y="2362200"/>
            <a:ext cx="13814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User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2986980" y="2743200"/>
            <a:ext cx="1767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that the user exists.</a:t>
            </a:r>
            <a:endParaRPr lang="en-US" sz="1050" dirty="0"/>
          </a:p>
        </p:txBody>
      </p:sp>
      <p:sp>
        <p:nvSpPr>
          <p:cNvPr id="31" name="Text 8"/>
          <p:cNvSpPr/>
          <p:nvPr/>
        </p:nvSpPr>
        <p:spPr>
          <a:xfrm>
            <a:off x="5631061" y="2362200"/>
            <a:ext cx="14780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Loop Products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5211961" y="2743200"/>
            <a:ext cx="21215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Loop through all products.</a:t>
            </a:r>
            <a:endParaRPr lang="en-US" sz="1050" dirty="0"/>
          </a:p>
        </p:txBody>
      </p:sp>
      <p:sp>
        <p:nvSpPr>
          <p:cNvPr id="33" name="Text 10"/>
          <p:cNvSpPr/>
          <p:nvPr/>
        </p:nvSpPr>
        <p:spPr>
          <a:xfrm>
            <a:off x="7838480" y="2324100"/>
            <a:ext cx="136639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 by Balance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7437090" y="2895600"/>
            <a:ext cx="1767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 products with price &lt;= user balance.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10081171" y="2362200"/>
            <a:ext cx="11421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List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9662071" y="2743200"/>
            <a:ext cx="176792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the filtered list of affordable products.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971550" y="3886200"/>
            <a:ext cx="288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B0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</a:t>
            </a:r>
            <a:endParaRPr lang="en-US" sz="1050" dirty="0">
              <a:solidFill>
                <a:srgbClr val="00B050"/>
              </a:solidFill>
            </a:endParaRPr>
          </a:p>
        </p:txBody>
      </p:sp>
      <p:sp>
        <p:nvSpPr>
          <p:cNvPr id="38" name="Text 15"/>
          <p:cNvSpPr/>
          <p:nvPr/>
        </p:nvSpPr>
        <p:spPr>
          <a:xfrm>
            <a:off x="1287959" y="3886200"/>
            <a:ext cx="23047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/affordable-products/{</a:t>
            </a:r>
            <a:r>
              <a:rPr lang="en-US" sz="1050" dirty="0" err="1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userId</a:t>
            </a: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3360986" y="3886200"/>
            <a:ext cx="105638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11748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524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335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19300"/>
            <a:ext cx="1097280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476500"/>
            <a:ext cx="10668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619500"/>
            <a:ext cx="2072580" cy="1447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848100"/>
            <a:ext cx="241102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351" y="39243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34580" y="3619500"/>
            <a:ext cx="2072580" cy="1447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86980" y="37719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59561" y="3619500"/>
            <a:ext cx="2072580" cy="1447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11961" y="3848100"/>
            <a:ext cx="303014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96793" y="392430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84541" y="3619500"/>
            <a:ext cx="2072580" cy="1447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36941" y="37719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13141" y="3848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09522" y="3619500"/>
            <a:ext cx="2072580" cy="1447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61922" y="37719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38122" y="3848100"/>
            <a:ext cx="1524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762000" y="171450"/>
            <a:ext cx="20875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E-commerce API</a:t>
            </a:r>
            <a:endParaRPr lang="en-US" sz="1500" dirty="0"/>
          </a:p>
        </p:txBody>
      </p:sp>
      <p:sp>
        <p:nvSpPr>
          <p:cNvPr id="26" name="Text 1"/>
          <p:cNvSpPr/>
          <p:nvPr/>
        </p:nvSpPr>
        <p:spPr>
          <a:xfrm>
            <a:off x="11031289" y="238125"/>
            <a:ext cx="93565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27" name="Text 2"/>
          <p:cNvSpPr/>
          <p:nvPr/>
        </p:nvSpPr>
        <p:spPr>
          <a:xfrm>
            <a:off x="609600" y="914400"/>
            <a:ext cx="13167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getProductsByCategoryAndPriceRange</a:t>
            </a:r>
            <a:endParaRPr lang="en-US" sz="2250" dirty="0"/>
          </a:p>
        </p:txBody>
      </p:sp>
      <p:sp>
        <p:nvSpPr>
          <p:cNvPr id="28" name="Text 3"/>
          <p:cNvSpPr/>
          <p:nvPr/>
        </p:nvSpPr>
        <p:spPr>
          <a:xfrm>
            <a:off x="609600" y="15240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Fetches products that match a specific category and fall within a given price range.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762000" y="2171700"/>
            <a:ext cx="1066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Price Range Filtering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117402" y="3771900"/>
            <a:ext cx="141237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Price Range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762000" y="4343400"/>
            <a:ext cx="176778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the price range (minPrice &lt;= maxPrice, non-negative).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3406080" y="3810000"/>
            <a:ext cx="14780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Loop Products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2986980" y="4191000"/>
            <a:ext cx="21213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Loop through all products.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5629275" y="3771900"/>
            <a:ext cx="135046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Match Category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5211961" y="4343400"/>
            <a:ext cx="21213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Match the categoryId.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7856041" y="3810000"/>
            <a:ext cx="14487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 by Price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7436941" y="4191000"/>
            <a:ext cx="1767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the price is within the given range.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10081022" y="3810000"/>
            <a:ext cx="11421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List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9661922" y="4191000"/>
            <a:ext cx="21213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the filtered list.</a:t>
            </a:r>
            <a:endParaRPr lang="en-US" sz="1050" dirty="0"/>
          </a:p>
        </p:txBody>
      </p:sp>
      <p:sp>
        <p:nvSpPr>
          <p:cNvPr id="41" name="Text 16"/>
          <p:cNvSpPr/>
          <p:nvPr/>
        </p:nvSpPr>
        <p:spPr>
          <a:xfrm>
            <a:off x="1287959" y="5448300"/>
            <a:ext cx="259282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3601045" y="5448300"/>
            <a:ext cx="240083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11748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524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335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19300"/>
            <a:ext cx="6278761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19075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30505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9480" y="2971800"/>
            <a:ext cx="190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2819400"/>
            <a:ext cx="5973961" cy="723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700" y="29908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31051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9480" y="3638550"/>
            <a:ext cx="19050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9200" y="3619500"/>
            <a:ext cx="5669161" cy="723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33500" y="379095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6375" y="3905250"/>
            <a:ext cx="952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9480" y="4305300"/>
            <a:ext cx="19050" cy="2857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419600"/>
            <a:ext cx="5973961" cy="723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8700" y="459105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3000" y="47053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9480" y="4972050"/>
            <a:ext cx="19050" cy="2857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9200" y="5219700"/>
            <a:ext cx="5669161" cy="723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33500" y="539115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47800" y="5505450"/>
            <a:ext cx="15240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762000" y="171450"/>
            <a:ext cx="20875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E-commerce API</a:t>
            </a:r>
            <a:endParaRPr lang="en-US" sz="1500" dirty="0"/>
          </a:p>
        </p:txBody>
      </p:sp>
      <p:sp>
        <p:nvSpPr>
          <p:cNvPr id="32" name="Text 1"/>
          <p:cNvSpPr/>
          <p:nvPr/>
        </p:nvSpPr>
        <p:spPr>
          <a:xfrm>
            <a:off x="11031289" y="238125"/>
            <a:ext cx="93565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33" name="Text 2"/>
          <p:cNvSpPr/>
          <p:nvPr/>
        </p:nvSpPr>
        <p:spPr>
          <a:xfrm>
            <a:off x="609600" y="914400"/>
            <a:ext cx="10972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topUpBalance</a:t>
            </a:r>
            <a:endParaRPr lang="en-US" sz="2250" dirty="0"/>
          </a:p>
        </p:txBody>
      </p:sp>
      <p:sp>
        <p:nvSpPr>
          <p:cNvPr id="34" name="Text 3"/>
          <p:cNvSpPr/>
          <p:nvPr/>
        </p:nvSpPr>
        <p:spPr>
          <a:xfrm>
            <a:off x="609600" y="15240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the user to add money to their balance.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1257300" y="2133600"/>
            <a:ext cx="16189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Retrieve User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1257300" y="2400300"/>
            <a:ext cx="16189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Retrieve the user.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1562100" y="2933700"/>
            <a:ext cx="26287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User</a:t>
            </a:r>
            <a:endParaRPr lang="en-US" sz="1350" dirty="0"/>
          </a:p>
        </p:txBody>
      </p:sp>
      <p:sp>
        <p:nvSpPr>
          <p:cNvPr id="38" name="Text 7"/>
          <p:cNvSpPr/>
          <p:nvPr/>
        </p:nvSpPr>
        <p:spPr>
          <a:xfrm>
            <a:off x="1562100" y="3200400"/>
            <a:ext cx="26287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that the user exists.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1866900" y="3733800"/>
            <a:ext cx="33550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 Amount</a:t>
            </a:r>
            <a:endParaRPr lang="en-US" sz="1350" dirty="0"/>
          </a:p>
        </p:txBody>
      </p:sp>
      <p:sp>
        <p:nvSpPr>
          <p:cNvPr id="40" name="Text 9"/>
          <p:cNvSpPr/>
          <p:nvPr/>
        </p:nvSpPr>
        <p:spPr>
          <a:xfrm>
            <a:off x="1866900" y="4000500"/>
            <a:ext cx="40260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 that the amount is greater than zero.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1562100" y="4533900"/>
            <a:ext cx="29290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Update Balance</a:t>
            </a:r>
            <a:endParaRPr lang="en-US" sz="1350" dirty="0"/>
          </a:p>
        </p:txBody>
      </p:sp>
      <p:sp>
        <p:nvSpPr>
          <p:cNvPr id="42" name="Text 11"/>
          <p:cNvSpPr/>
          <p:nvPr/>
        </p:nvSpPr>
        <p:spPr>
          <a:xfrm>
            <a:off x="1562100" y="4800600"/>
            <a:ext cx="35149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the amount to the user's balance.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1866900" y="5334000"/>
            <a:ext cx="19545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Status</a:t>
            </a:r>
            <a:endParaRPr lang="en-US" sz="1350" dirty="0"/>
          </a:p>
        </p:txBody>
      </p:sp>
      <p:sp>
        <p:nvSpPr>
          <p:cNvPr id="44" name="Text 13"/>
          <p:cNvSpPr/>
          <p:nvPr/>
        </p:nvSpPr>
        <p:spPr>
          <a:xfrm>
            <a:off x="1866900" y="5600700"/>
            <a:ext cx="1954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a status code.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7593211" y="2209800"/>
            <a:ext cx="3841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7989540" y="2209800"/>
            <a:ext cx="17286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7" name="Text 16"/>
          <p:cNvSpPr/>
          <p:nvPr/>
        </p:nvSpPr>
        <p:spPr>
          <a:xfrm>
            <a:off x="7383661" y="2514600"/>
            <a:ext cx="40080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7497961" y="2876550"/>
            <a:ext cx="1360438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7383661" y="3848100"/>
            <a:ext cx="40080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7459861" y="4076700"/>
            <a:ext cx="4298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51" name="Text 20"/>
          <p:cNvSpPr/>
          <p:nvPr/>
        </p:nvSpPr>
        <p:spPr>
          <a:xfrm>
            <a:off x="7818090" y="4095750"/>
            <a:ext cx="67222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2" name="Text 21"/>
          <p:cNvSpPr/>
          <p:nvPr/>
        </p:nvSpPr>
        <p:spPr>
          <a:xfrm>
            <a:off x="7459861" y="4381500"/>
            <a:ext cx="4298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53" name="Text 22"/>
          <p:cNvSpPr/>
          <p:nvPr/>
        </p:nvSpPr>
        <p:spPr>
          <a:xfrm>
            <a:off x="7818090" y="4400550"/>
            <a:ext cx="307288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4" name="Text 23"/>
          <p:cNvSpPr/>
          <p:nvPr/>
        </p:nvSpPr>
        <p:spPr>
          <a:xfrm>
            <a:off x="11748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524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335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171700"/>
            <a:ext cx="2133600" cy="1219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400300"/>
            <a:ext cx="201067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1288" y="2647950"/>
            <a:ext cx="1238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9400" y="2171700"/>
            <a:ext cx="2133600" cy="1219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1800" y="2400300"/>
            <a:ext cx="201811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86980" y="247650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1088" y="2647950"/>
            <a:ext cx="1238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171700"/>
            <a:ext cx="2133600" cy="1219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1600" y="2400300"/>
            <a:ext cx="198239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4995" y="2476500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888" y="2647950"/>
            <a:ext cx="1238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2171700"/>
            <a:ext cx="2133600" cy="1219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91400" y="2400300"/>
            <a:ext cx="20568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8515" y="2476500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0688" y="2647950"/>
            <a:ext cx="12382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800" y="2171700"/>
            <a:ext cx="2133600" cy="1219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01200" y="2400300"/>
            <a:ext cx="263723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56862" y="24765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rcRect r="38038"/>
          <a:stretch>
            <a:fillRect/>
          </a:stretch>
        </p:blipFill>
        <p:spPr>
          <a:xfrm>
            <a:off x="609600" y="3962400"/>
            <a:ext cx="9255323" cy="1333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5448300"/>
            <a:ext cx="10972800" cy="4953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762000" y="171450"/>
            <a:ext cx="20875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E-commerce API</a:t>
            </a:r>
            <a:endParaRPr lang="en-US" sz="1500" dirty="0"/>
          </a:p>
        </p:txBody>
      </p:sp>
      <p:sp>
        <p:nvSpPr>
          <p:cNvPr id="29" name="Text 1"/>
          <p:cNvSpPr/>
          <p:nvPr/>
        </p:nvSpPr>
        <p:spPr>
          <a:xfrm>
            <a:off x="11031289" y="238125"/>
            <a:ext cx="93565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30" name="Text 2"/>
          <p:cNvSpPr/>
          <p:nvPr/>
        </p:nvSpPr>
        <p:spPr>
          <a:xfrm>
            <a:off x="609600" y="914400"/>
            <a:ext cx="10972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getFavoriteCategoryProducts</a:t>
            </a:r>
            <a:endParaRPr lang="en-US" sz="2250" dirty="0"/>
          </a:p>
        </p:txBody>
      </p:sp>
      <p:sp>
        <p:nvSpPr>
          <p:cNvPr id="31" name="Text 3"/>
          <p:cNvSpPr/>
          <p:nvPr/>
        </p:nvSpPr>
        <p:spPr>
          <a:xfrm>
            <a:off x="609600" y="16002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the user's most frequently purchased category and returns products from that category.</a:t>
            </a:r>
            <a:endParaRPr lang="en-US" sz="1500" dirty="0"/>
          </a:p>
        </p:txBody>
      </p:sp>
      <p:sp>
        <p:nvSpPr>
          <p:cNvPr id="32" name="Text 4"/>
          <p:cNvSpPr/>
          <p:nvPr/>
        </p:nvSpPr>
        <p:spPr>
          <a:xfrm>
            <a:off x="1077367" y="2324100"/>
            <a:ext cx="151343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Retrieve User &amp; Purchases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762000" y="2857500"/>
            <a:ext cx="1828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 user data and purchase history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3287911" y="2324100"/>
            <a:ext cx="151268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Count Category Frequency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2971800" y="2857500"/>
            <a:ext cx="1828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Tally purchases by category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5494139" y="2324100"/>
            <a:ext cx="151626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Determine Most Purchased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5181600" y="2857500"/>
            <a:ext cx="1828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Find category with highest count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7711380" y="2324100"/>
            <a:ext cx="15088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Collect Category Products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7391400" y="2857500"/>
            <a:ext cx="1828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Gather all products in favorite category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9979223" y="2324100"/>
            <a:ext cx="145077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Product List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9601200" y="2857500"/>
            <a:ext cx="1828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Send back favorite category products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609600" y="36957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Category Frequency Example</a:t>
            </a:r>
            <a:endParaRPr lang="en-US" sz="1350" dirty="0"/>
          </a:p>
        </p:txBody>
      </p:sp>
      <p:sp>
        <p:nvSpPr>
          <p:cNvPr id="43" name="Text 15"/>
          <p:cNvSpPr/>
          <p:nvPr/>
        </p:nvSpPr>
        <p:spPr>
          <a:xfrm>
            <a:off x="971550" y="5600700"/>
            <a:ext cx="288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B05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</a:t>
            </a:r>
            <a:endParaRPr lang="en-US" sz="1050" dirty="0">
              <a:solidFill>
                <a:srgbClr val="00B050"/>
              </a:solidFill>
            </a:endParaRPr>
          </a:p>
        </p:txBody>
      </p:sp>
      <p:sp>
        <p:nvSpPr>
          <p:cNvPr id="44" name="Text 16"/>
          <p:cNvSpPr/>
          <p:nvPr/>
        </p:nvSpPr>
        <p:spPr>
          <a:xfrm>
            <a:off x="1287959" y="5600700"/>
            <a:ext cx="220866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chemeClr val="bg1"/>
                </a:solidFill>
              </a:rPr>
              <a:t>/</a:t>
            </a: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favorite-category-products/{id}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5" name="Text 17"/>
          <p:cNvSpPr/>
          <p:nvPr/>
        </p:nvSpPr>
        <p:spPr>
          <a:xfrm>
            <a:off x="3280916" y="5600700"/>
            <a:ext cx="105638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11748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524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335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95500"/>
            <a:ext cx="2628900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209800"/>
            <a:ext cx="2667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2247900"/>
            <a:ext cx="17145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900" y="2095500"/>
            <a:ext cx="2628900" cy="723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5200" y="2209800"/>
            <a:ext cx="2667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2825" y="2247900"/>
            <a:ext cx="17145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095500"/>
            <a:ext cx="2628900" cy="723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2209800"/>
            <a:ext cx="2667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3650" y="2247900"/>
            <a:ext cx="1524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0" y="2095500"/>
            <a:ext cx="2628900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67800" y="2209800"/>
            <a:ext cx="2667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24950" y="2247900"/>
            <a:ext cx="1524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971800"/>
            <a:ext cx="2628900" cy="723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00" y="3086100"/>
            <a:ext cx="2667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0575" y="3124200"/>
            <a:ext cx="13335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900" y="2971800"/>
            <a:ext cx="2628900" cy="723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05200" y="3086100"/>
            <a:ext cx="2667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71875" y="3124200"/>
            <a:ext cx="13335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971800"/>
            <a:ext cx="2628900" cy="723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0" y="3086100"/>
            <a:ext cx="266700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34125" y="3124200"/>
            <a:ext cx="171450" cy="190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0" y="2971800"/>
            <a:ext cx="2628900" cy="723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67800" y="3086100"/>
            <a:ext cx="266700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34475" y="3124200"/>
            <a:ext cx="133350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" y="3924300"/>
            <a:ext cx="10972800" cy="4953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2000" y="4105275"/>
            <a:ext cx="133350" cy="13335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762000" y="171450"/>
            <a:ext cx="20875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E-commerce API</a:t>
            </a:r>
            <a:endParaRPr lang="en-US" sz="1500" dirty="0"/>
          </a:p>
        </p:txBody>
      </p:sp>
      <p:sp>
        <p:nvSpPr>
          <p:cNvPr id="34" name="Text 1"/>
          <p:cNvSpPr/>
          <p:nvPr/>
        </p:nvSpPr>
        <p:spPr>
          <a:xfrm>
            <a:off x="11031289" y="238125"/>
            <a:ext cx="935653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35" name="Text 2"/>
          <p:cNvSpPr/>
          <p:nvPr/>
        </p:nvSpPr>
        <p:spPr>
          <a:xfrm>
            <a:off x="609600" y="914400"/>
            <a:ext cx="10972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refundProduct</a:t>
            </a:r>
            <a:endParaRPr lang="en-US" sz="2250" dirty="0"/>
          </a:p>
        </p:txBody>
      </p:sp>
      <p:sp>
        <p:nvSpPr>
          <p:cNvPr id="36" name="Text 3"/>
          <p:cNvSpPr/>
          <p:nvPr/>
        </p:nvSpPr>
        <p:spPr>
          <a:xfrm>
            <a:off x="609600" y="16002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Processes a product refund and updates balance and merchant stock.</a:t>
            </a:r>
            <a:endParaRPr lang="en-US" sz="1500" dirty="0"/>
          </a:p>
        </p:txBody>
      </p:sp>
      <p:sp>
        <p:nvSpPr>
          <p:cNvPr id="37" name="Text 4"/>
          <p:cNvSpPr/>
          <p:nvPr/>
        </p:nvSpPr>
        <p:spPr>
          <a:xfrm>
            <a:off x="1066800" y="2247900"/>
            <a:ext cx="12087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User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723900" y="25527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 if user exists</a:t>
            </a:r>
            <a:endParaRPr lang="en-US" sz="900" dirty="0"/>
          </a:p>
        </p:txBody>
      </p:sp>
      <p:sp>
        <p:nvSpPr>
          <p:cNvPr id="39" name="Text 6"/>
          <p:cNvSpPr/>
          <p:nvPr/>
        </p:nvSpPr>
        <p:spPr>
          <a:xfrm>
            <a:off x="3848100" y="2247900"/>
            <a:ext cx="15800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Product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3505200" y="25527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 if product exists</a:t>
            </a:r>
            <a:endParaRPr lang="en-US" sz="900" dirty="0"/>
          </a:p>
        </p:txBody>
      </p:sp>
      <p:sp>
        <p:nvSpPr>
          <p:cNvPr id="41" name="Text 8"/>
          <p:cNvSpPr/>
          <p:nvPr/>
        </p:nvSpPr>
        <p:spPr>
          <a:xfrm>
            <a:off x="6629400" y="2247900"/>
            <a:ext cx="16500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 Merchant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6286500" y="25527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 if merchant exists</a:t>
            </a:r>
            <a:endParaRPr lang="en-US" sz="900" dirty="0"/>
          </a:p>
        </p:txBody>
      </p:sp>
      <p:sp>
        <p:nvSpPr>
          <p:cNvPr id="43" name="Text 10"/>
          <p:cNvSpPr/>
          <p:nvPr/>
        </p:nvSpPr>
        <p:spPr>
          <a:xfrm>
            <a:off x="9410700" y="2247900"/>
            <a:ext cx="142767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 Purchase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9067800" y="25527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Verify user purchased product</a:t>
            </a:r>
            <a:endParaRPr lang="en-US" sz="900" dirty="0"/>
          </a:p>
        </p:txBody>
      </p:sp>
      <p:sp>
        <p:nvSpPr>
          <p:cNvPr id="45" name="Text 12"/>
          <p:cNvSpPr/>
          <p:nvPr/>
        </p:nvSpPr>
        <p:spPr>
          <a:xfrm>
            <a:off x="1066800" y="3124200"/>
            <a:ext cx="14307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Remove History</a:t>
            </a:r>
            <a:endParaRPr lang="en-US" sz="1050" dirty="0"/>
          </a:p>
        </p:txBody>
      </p:sp>
      <p:sp>
        <p:nvSpPr>
          <p:cNvPr id="46" name="Text 13"/>
          <p:cNvSpPr/>
          <p:nvPr/>
        </p:nvSpPr>
        <p:spPr>
          <a:xfrm>
            <a:off x="723900" y="34290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Delete from purchase history</a:t>
            </a:r>
            <a:endParaRPr lang="en-US" sz="900" dirty="0"/>
          </a:p>
        </p:txBody>
      </p:sp>
      <p:sp>
        <p:nvSpPr>
          <p:cNvPr id="47" name="Text 14"/>
          <p:cNvSpPr/>
          <p:nvPr/>
        </p:nvSpPr>
        <p:spPr>
          <a:xfrm>
            <a:off x="3848100" y="3124200"/>
            <a:ext cx="1409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Refund Balance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3505200" y="34290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Credit user's balance</a:t>
            </a:r>
            <a:endParaRPr lang="en-US" sz="900" dirty="0"/>
          </a:p>
        </p:txBody>
      </p:sp>
      <p:sp>
        <p:nvSpPr>
          <p:cNvPr id="49" name="Text 16"/>
          <p:cNvSpPr/>
          <p:nvPr/>
        </p:nvSpPr>
        <p:spPr>
          <a:xfrm>
            <a:off x="6629400" y="3124200"/>
            <a:ext cx="12108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Update Stock</a:t>
            </a:r>
            <a:endParaRPr lang="en-US" sz="1050" dirty="0"/>
          </a:p>
        </p:txBody>
      </p:sp>
      <p:sp>
        <p:nvSpPr>
          <p:cNvPr id="50" name="Text 17"/>
          <p:cNvSpPr/>
          <p:nvPr/>
        </p:nvSpPr>
        <p:spPr>
          <a:xfrm>
            <a:off x="6286500" y="34290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Increase merchant stock</a:t>
            </a:r>
            <a:endParaRPr lang="en-US" sz="900" dirty="0"/>
          </a:p>
        </p:txBody>
      </p:sp>
      <p:sp>
        <p:nvSpPr>
          <p:cNvPr id="51" name="Text 18"/>
          <p:cNvSpPr/>
          <p:nvPr/>
        </p:nvSpPr>
        <p:spPr>
          <a:xfrm>
            <a:off x="9410700" y="3124200"/>
            <a:ext cx="12562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Status</a:t>
            </a:r>
            <a:endParaRPr lang="en-US" sz="1050" dirty="0"/>
          </a:p>
        </p:txBody>
      </p:sp>
      <p:sp>
        <p:nvSpPr>
          <p:cNvPr id="52" name="Text 19"/>
          <p:cNvSpPr/>
          <p:nvPr/>
        </p:nvSpPr>
        <p:spPr>
          <a:xfrm>
            <a:off x="9067800" y="34290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Send success response</a:t>
            </a:r>
            <a:endParaRPr lang="en-US" sz="900" dirty="0"/>
          </a:p>
        </p:txBody>
      </p:sp>
      <p:sp>
        <p:nvSpPr>
          <p:cNvPr id="53" name="Text 20"/>
          <p:cNvSpPr/>
          <p:nvPr/>
        </p:nvSpPr>
        <p:spPr>
          <a:xfrm>
            <a:off x="971550" y="4076700"/>
            <a:ext cx="3841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POST</a:t>
            </a:r>
            <a:endParaRPr lang="en-US" sz="1050" dirty="0"/>
          </a:p>
        </p:txBody>
      </p:sp>
      <p:sp>
        <p:nvSpPr>
          <p:cNvPr id="54" name="Text 21"/>
          <p:cNvSpPr/>
          <p:nvPr/>
        </p:nvSpPr>
        <p:spPr>
          <a:xfrm>
            <a:off x="1367878" y="4076700"/>
            <a:ext cx="3026839" cy="457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/refund/{</a:t>
            </a:r>
            <a:r>
              <a:rPr lang="en-US" sz="1050" dirty="0" err="1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userId</a:t>
            </a: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}/{</a:t>
            </a:r>
            <a:r>
              <a:rPr lang="en-US" sz="1050" dirty="0" err="1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productId</a:t>
            </a: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}/{</a:t>
            </a:r>
            <a:r>
              <a:rPr lang="en-US" sz="1050" dirty="0" err="1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merchantId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5" name="Text 22"/>
          <p:cNvSpPr/>
          <p:nvPr/>
        </p:nvSpPr>
        <p:spPr>
          <a:xfrm>
            <a:off x="762000" y="4352925"/>
            <a:ext cx="1440507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56" name="Text 23"/>
          <p:cNvSpPr/>
          <p:nvPr/>
        </p:nvSpPr>
        <p:spPr>
          <a:xfrm>
            <a:off x="-702284" y="4704961"/>
            <a:ext cx="1316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endpoint ensures proper refund processing across the e-commerce platform.</a:t>
            </a:r>
            <a:endParaRPr lang="en-US" sz="1200" dirty="0"/>
          </a:p>
        </p:txBody>
      </p:sp>
      <p:sp>
        <p:nvSpPr>
          <p:cNvPr id="57" name="Text 24"/>
          <p:cNvSpPr/>
          <p:nvPr/>
        </p:nvSpPr>
        <p:spPr>
          <a:xfrm>
            <a:off x="11748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417</Words>
  <Application>Microsoft Office PowerPoint</Application>
  <PresentationFormat>Widescreen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ui-monospace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Turki Alharbi .</cp:lastModifiedBy>
  <cp:revision>3</cp:revision>
  <dcterms:created xsi:type="dcterms:W3CDTF">2025-11-17T15:52:38Z</dcterms:created>
  <dcterms:modified xsi:type="dcterms:W3CDTF">2025-11-17T19:58:15Z</dcterms:modified>
</cp:coreProperties>
</file>